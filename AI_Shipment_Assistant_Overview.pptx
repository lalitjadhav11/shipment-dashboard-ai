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640080" y="777240"/>
            <a:ext cx="201168" cy="201168"/>
          </a:xfrm>
          <a:prstGeom prst="diamond">
            <a:avLst/>
          </a:prstGeom>
          <a:gradFill rotWithShape="1">
            <a:gsLst>
              <a:gs pos="0">
                <a:srgbClr val="4D148C"/>
              </a:gs>
              <a:gs pos="100000">
                <a:srgbClr val="FF6600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758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1726"/>
                </a:solidFill>
                <a:latin typeface="Segoe UI Semibold"/>
              </a:rPr>
              <a:t>ShipTrack · AI Shipment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TEAM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1" i="0">
                <a:solidFill>
                  <a:srgbClr val="1E1726"/>
                </a:solidFill>
                <a:latin typeface="Segoe UI Semibold"/>
              </a:rPr>
              <a:t>How the assistant thinks</a:t>
            </a:r>
          </a:p>
          <a:p>
            <a:pPr algn="l">
              <a:lnSpc>
                <a:spcPct val="102000"/>
              </a:lnSpc>
            </a:pPr>
            <a:r>
              <a:rPr sz="5200" b="1" i="0">
                <a:solidFill>
                  <a:srgbClr val="1E1726"/>
                </a:solidFill>
                <a:latin typeface="Segoe UI Semibold"/>
              </a:rPr>
              <a:t>through 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564C66"/>
                </a:solidFill>
                <a:latin typeface="Segoe UI"/>
              </a:rPr>
              <a:t>An overview of the pipeline behind every answer — what runs for free, what calls an LLM, and why the product needs AI in the first place.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4D148C"/>
                </a:solidFill>
                <a:latin typeface="Consolas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492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7F9C"/>
                </a:solidFill>
                <a:latin typeface="Segoe UI"/>
              </a:rPr>
              <a:t>pipeline stages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70916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4D148C"/>
                </a:solidFill>
                <a:latin typeface="Consolas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53492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7F9C"/>
                </a:solidFill>
                <a:latin typeface="Segoe UI"/>
              </a:rPr>
              <a:t>zero-LLM templates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70916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4D148C"/>
                </a:solidFill>
                <a:latin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53492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7F9C"/>
                </a:solidFill>
                <a:latin typeface="Segoe UI"/>
              </a:rPr>
              <a:t>LLM fallback stages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01 / 8</a:t>
            </a:r>
          </a:p>
        </p:txBody>
      </p:sp>
      <p:sp>
        <p:nvSpPr>
          <p:cNvPr id="15" name="Diamond 14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E1726"/>
                </a:solidFill>
                <a:latin typeface="Segoe UI Semibold"/>
              </a:rPr>
              <a:t>Live shipment data, answered in plain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564C66"/>
                </a:solidFill>
                <a:latin typeface="Segoe UI"/>
              </a:rPr>
              <a:t>A real-time shipment dashboard, paired with a conversational AI assistant that turns any question about that data into an instant, accurate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456432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9536" y="2395728"/>
            <a:ext cx="384048" cy="384048"/>
          </a:xfrm>
          <a:prstGeom prst="roundRect">
            <a:avLst>
              <a:gd name="adj" fmla="val 32000"/>
            </a:avLst>
          </a:prstGeom>
          <a:solidFill>
            <a:srgbClr val="EFE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4D148C"/>
                </a:solidFill>
              </a:rPr>
              <a:t>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871216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B7F9C"/>
                </a:solidFill>
                <a:latin typeface="Consolas"/>
              </a:rPr>
              <a:t>THE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12724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E1726"/>
                </a:solidFill>
                <a:latin typeface="Segoe UI Semibold"/>
              </a:rPr>
              <a:t>What it is</a:t>
            </a:r>
          </a:p>
        </p:txBody>
      </p:sp>
      <p:sp>
        <p:nvSpPr>
          <p:cNvPr id="10" name="Oval 9"/>
          <p:cNvSpPr/>
          <p:nvPr/>
        </p:nvSpPr>
        <p:spPr>
          <a:xfrm>
            <a:off x="886968" y="3680460"/>
            <a:ext cx="54864" cy="54864"/>
          </a:xfrm>
          <a:prstGeom prst="ellipse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3611880"/>
            <a:ext cx="28163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64C66"/>
                </a:solidFill>
                <a:latin typeface="Segoe UI"/>
              </a:rPr>
              <a:t>Real-time tracking across pickup, customs, transit, delivery, and exceptions.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886968" y="4247388"/>
            <a:ext cx="54864" cy="54864"/>
          </a:xfrm>
          <a:prstGeom prst="ellipse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178808"/>
            <a:ext cx="28163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64C66"/>
                </a:solidFill>
                <a:latin typeface="Segoe UI"/>
              </a:rPr>
              <a:t>25,000+ live shipments, each with a full journey history and issue log.</a:t>
            </a:r>
          </a:p>
        </p:txBody>
      </p:sp>
      <p:sp>
        <p:nvSpPr>
          <p:cNvPr id="14" name="Oval 13"/>
          <p:cNvSpPr/>
          <p:nvPr/>
        </p:nvSpPr>
        <p:spPr>
          <a:xfrm>
            <a:off x="886968" y="4814316"/>
            <a:ext cx="54864" cy="54864"/>
          </a:xfrm>
          <a:prstGeom prst="ellipse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4745736"/>
            <a:ext cx="28163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64C66"/>
                </a:solidFill>
                <a:latin typeface="Segoe UI"/>
              </a:rPr>
              <a:t>A chat assistant beside the dashboard — ask instead of filtering.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6260" y="2194560"/>
            <a:ext cx="3456432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85716" y="2395728"/>
            <a:ext cx="384048" cy="384048"/>
          </a:xfrm>
          <a:prstGeom prst="roundRect">
            <a:avLst>
              <a:gd name="adj" fmla="val 32000"/>
            </a:avLst>
          </a:prstGeom>
          <a:solidFill>
            <a:srgbClr val="FF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FF6600"/>
                </a:solidFill>
              </a:rPr>
              <a:t>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5716" y="2871216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B7F9C"/>
                </a:solidFill>
                <a:latin typeface="Consolas"/>
              </a:rPr>
              <a:t>THE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5716" y="312724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E1726"/>
                </a:solidFill>
                <a:latin typeface="Segoe UI Semibold"/>
              </a:rPr>
              <a:t>Why it needs AI</a:t>
            </a:r>
          </a:p>
        </p:txBody>
      </p:sp>
      <p:sp>
        <p:nvSpPr>
          <p:cNvPr id="20" name="Oval 19"/>
          <p:cNvSpPr/>
          <p:nvPr/>
        </p:nvSpPr>
        <p:spPr>
          <a:xfrm>
            <a:off x="4613148" y="3680460"/>
            <a:ext cx="54864" cy="54864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6884" y="3611880"/>
            <a:ext cx="28163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64C66"/>
                </a:solidFill>
                <a:latin typeface="Segoe UI"/>
              </a:rPr>
              <a:t>Real questions span tables no single dashboard screen shows together.</a:t>
            </a:r>
          </a:p>
        </p:txBody>
      </p:sp>
      <p:sp>
        <p:nvSpPr>
          <p:cNvPr id="22" name="Oval 21"/>
          <p:cNvSpPr/>
          <p:nvPr/>
        </p:nvSpPr>
        <p:spPr>
          <a:xfrm>
            <a:off x="4613148" y="4247388"/>
            <a:ext cx="54864" cy="54864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6884" y="4178808"/>
            <a:ext cx="28163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64C66"/>
                </a:solidFill>
                <a:latin typeface="Segoe UI"/>
              </a:rPr>
              <a:t>Can't ship a new screen for every new question shape customers ask.</a:t>
            </a:r>
          </a:p>
        </p:txBody>
      </p:sp>
      <p:sp>
        <p:nvSpPr>
          <p:cNvPr id="24" name="Oval 23"/>
          <p:cNvSpPr/>
          <p:nvPr/>
        </p:nvSpPr>
        <p:spPr>
          <a:xfrm>
            <a:off x="4613148" y="4814316"/>
            <a:ext cx="54864" cy="54864"/>
          </a:xfrm>
          <a:prstGeom prst="ellipse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6884" y="4745736"/>
            <a:ext cx="28163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64C66"/>
                </a:solidFill>
                <a:latin typeface="Segoe UI"/>
              </a:rPr>
              <a:t>Support teams translate questions into filters instead of answering them.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2194560"/>
            <a:ext cx="3456432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11896" y="2395728"/>
            <a:ext cx="384048" cy="384048"/>
          </a:xfrm>
          <a:prstGeom prst="roundRect">
            <a:avLst>
              <a:gd name="adj" fmla="val 32000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157A45"/>
                </a:solidFill>
              </a:rPr>
              <a:t>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2871216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B7F9C"/>
                </a:solidFill>
                <a:latin typeface="Consolas"/>
              </a:rPr>
              <a:t>THE PAYOFF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312724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E1726"/>
                </a:solidFill>
                <a:latin typeface="Segoe UI Semibold"/>
              </a:rPr>
              <a:t>Value to the customer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4" y="3621024"/>
            <a:ext cx="182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57A45"/>
                </a:solidFill>
                <a:latin typeface="Segoe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1352" y="3611880"/>
            <a:ext cx="27980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64C66"/>
                </a:solidFill>
                <a:latin typeface="Segoe UI"/>
              </a:rPr>
              <a:t>Instant, specific answers — names the real reason, never “delayed.”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4" y="4187952"/>
            <a:ext cx="182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57A45"/>
                </a:solidFill>
                <a:latin typeface="Segoe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1352" y="4178808"/>
            <a:ext cx="27980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64C66"/>
                </a:solidFill>
                <a:latin typeface="Segoe UI"/>
              </a:rPr>
              <a:t>Grounded in live data — every answer traces to a real, validated query.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0184" y="4754880"/>
            <a:ext cx="182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57A45"/>
                </a:solidFill>
                <a:latin typeface="Segoe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1352" y="4745736"/>
            <a:ext cx="27980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64C66"/>
                </a:solidFill>
                <a:latin typeface="Segoe UI"/>
              </a:rPr>
              <a:t>Free &amp; 24/7 — a $0 fast path handles common questions, day or night.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440680"/>
            <a:ext cx="255666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541264"/>
            <a:ext cx="21909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4D148C"/>
                </a:solidFill>
                <a:latin typeface="Consolas"/>
              </a:rPr>
              <a:t>25,000+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907024"/>
            <a:ext cx="219090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7F9C"/>
                </a:solidFill>
                <a:latin typeface="Segoe UI"/>
              </a:rPr>
              <a:t>shipments tracked live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25342" y="5440680"/>
            <a:ext cx="255666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8222" y="5541264"/>
            <a:ext cx="21909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4D148C"/>
                </a:solidFill>
                <a:latin typeface="Consolas"/>
              </a:rPr>
              <a:t>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08222" y="5907024"/>
            <a:ext cx="219090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7F9C"/>
                </a:solidFill>
                <a:latin typeface="Segoe UI"/>
              </a:rPr>
              <a:t>instant, $0-cost templates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0604" y="5440680"/>
            <a:ext cx="255666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93484" y="5541264"/>
            <a:ext cx="21909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4D148C"/>
                </a:solidFill>
                <a:latin typeface="Consolas"/>
              </a:rPr>
              <a:t>Seconds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3484" y="5907024"/>
            <a:ext cx="219090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7F9C"/>
                </a:solidFill>
                <a:latin typeface="Segoe UI"/>
              </a:rPr>
              <a:t>vs. minutes of manual digging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95866" y="5440680"/>
            <a:ext cx="255666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78746" y="5541264"/>
            <a:ext cx="21909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4D148C"/>
                </a:solidFill>
                <a:latin typeface="Consolas"/>
              </a:rPr>
              <a:t>24/7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78746" y="5907024"/>
            <a:ext cx="219090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7F9C"/>
                </a:solidFill>
                <a:latin typeface="Segoe UI"/>
              </a:rPr>
              <a:t>self-service, no training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02 / 8</a:t>
            </a:r>
          </a:p>
        </p:txBody>
      </p:sp>
      <p:sp>
        <p:nvSpPr>
          <p:cNvPr id="49" name="Diamond 48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E1726"/>
                </a:solidFill>
                <a:latin typeface="Segoe UI Semibold"/>
              </a:rPr>
              <a:t>Most answers never touch an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564C66"/>
                </a:solidFill>
                <a:latin typeface="Segoe UI"/>
              </a:rPr>
              <a:t>A fast, free, deterministic path (v0) handles anything it recognizes. An LLM only gets involved (v1) when nothing else fits — and even then, only in two narrow, controlled spots.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5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734056"/>
            <a:ext cx="2688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Template matches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118104"/>
            <a:ext cx="26883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28 pre-built, pre-tested SQL 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3364992"/>
            <a:ext cx="1163112" cy="29260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57A45"/>
                </a:solidFill>
                <a:latin typeface="Consolas"/>
              </a:rPr>
              <a:t>INSTANT · 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971800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B7F9C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606040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2734056"/>
            <a:ext cx="2688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Runs immediately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3118104"/>
            <a:ext cx="26883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No model call, no waiting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39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105655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Nothing fits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489703"/>
            <a:ext cx="2276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Novel or compound question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4736592"/>
            <a:ext cx="848560" cy="292608"/>
          </a:xfrm>
          <a:prstGeom prst="roundRect">
            <a:avLst>
              <a:gd name="adj" fmla="val 50000"/>
            </a:avLst>
          </a:prstGeom>
          <a:solidFill>
            <a:srgbClr val="FF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6600"/>
                </a:solidFill>
                <a:latin typeface="Consolas"/>
              </a:rPr>
              <a:t>LLM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4343400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B7F9C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3977639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13631" y="4105655"/>
            <a:ext cx="2414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LLM drafts a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3631" y="4489703"/>
            <a:ext cx="2414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Narrow schema, extracted values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343400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B7F9C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3977639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4105655"/>
            <a:ext cx="2414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LLM writes the 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2" y="4489703"/>
            <a:ext cx="2414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Grounded only in the returned rows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235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8B7F9C"/>
                </a:solidFill>
                <a:latin typeface="Segoe UI"/>
              </a:rPr>
              <a:t>This is the whole reason the system is cheap and fast — and still handles the long tail.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03 / 8</a:t>
            </a:r>
          </a:p>
        </p:txBody>
      </p:sp>
      <p:sp>
        <p:nvSpPr>
          <p:cNvPr id="28" name="Diamond 27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THE FULL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E1726"/>
                </a:solidFill>
                <a:latin typeface="Segoe UI Semibold"/>
              </a:rPr>
              <a:t>Seven stages, one straight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564C66"/>
                </a:solidFill>
                <a:latin typeface="Segoe UI"/>
              </a:rPr>
              <a:t>Every question passes through the same fixed sequence — no agent loops, no branching frameworks. Just a pipeline with two optional side-doors.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642616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1 ·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26664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Which known question?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0752" y="2834640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B7F9C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87368" y="251460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642616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2 · Entities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3026664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IDs, names, 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834640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B7F9C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34656" y="251460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9248" y="2642616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3 · Schema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3026664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Which tables matter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0332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5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831336"/>
            <a:ext cx="4700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4a · Template 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215384"/>
            <a:ext cx="4700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Fast path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70332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6752" y="3831336"/>
            <a:ext cx="4700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4b · LLM drafts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6752" y="4215384"/>
            <a:ext cx="47000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Fallback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4632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974336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5 · Guardrails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358384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Safety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0752" y="5166360"/>
            <a:ext cx="320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B7F9C"/>
                </a:solidFill>
                <a:latin typeface="Segoe U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0" y="484632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9392" y="4974336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6 · Execute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5358384"/>
            <a:ext cx="2734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Read-only DB role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484632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5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82712" y="4974336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7a · Template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2712" y="5358384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Fast path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21240" y="484632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4974336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1726"/>
                </a:solidFill>
                <a:latin typeface="Segoe UI Semibold"/>
              </a:rPr>
              <a:t>7b · LLM answer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85832" y="5358384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7F9C"/>
                </a:solidFill>
                <a:latin typeface="Segoe UI"/>
              </a:rPr>
              <a:t>Fallback only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04 / 8</a:t>
            </a:r>
          </a:p>
        </p:txBody>
      </p:sp>
      <p:sp>
        <p:nvSpPr>
          <p:cNvPr id="37" name="Diamond 36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FROM REAL BUG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E1726"/>
                </a:solidFill>
                <a:latin typeface="Segoe UI Semibold"/>
              </a:rPr>
              <a:t>A fillable answer isn’t the same as a right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64C66"/>
                </a:solidFill>
                <a:latin typeface="Segoe UI"/>
              </a:rPr>
              <a:t>The recurring lesson across dozens of live fixes: a template can match confidently and still answer the wrong question. The fix is never “wait for a smarter model” — it’s naming the signal and routing around the gap.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3520440" cy="54864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1726"/>
                </a:solidFill>
                <a:latin typeface="Segoe UI Semibold"/>
              </a:rPr>
              <a:t>“Why are shipments delayed by weather?”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1188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Matched a plain count breakdown — technically ran, never explained anything. Now detected and routed to the LLM instead.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60604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606040"/>
            <a:ext cx="3520440" cy="54864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83464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1726"/>
                </a:solidFill>
                <a:latin typeface="Segoe UI Semibold"/>
              </a:rPr>
              <a:t>“…their history of status”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1188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The LLM once denied historical data existed — because it was never shown the journey-log table. Now force-included and explicitly pointed 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60604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606040"/>
            <a:ext cx="3520440" cy="54864"/>
          </a:xfrm>
          <a:prstGeom prst="rect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83464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1726"/>
                </a:solidFill>
                <a:latin typeface="Segoe UI Semibold"/>
              </a:rPr>
              <a:t>“800000000019give me…”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61188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4C66"/>
                </a:solidFill>
                <a:latin typeface="Segoe UI"/>
              </a:rPr>
              <a:t>A missing space silently defeated ID extraction entirely. Two-stage bug: the fix wasn’t in routing, it was two stages earlier.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05 / 8</a:t>
            </a:r>
          </a:p>
        </p:txBody>
      </p:sp>
      <p:sp>
        <p:nvSpPr>
          <p:cNvPr id="19" name="Diamond 18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CHECKED BEFORE ANY STAGE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E1726"/>
                </a:solidFill>
                <a:latin typeface="Segoe UI Semibold"/>
              </a:rPr>
              <a:t>Two rules that apply to every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51206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1726"/>
                </a:solidFill>
                <a:latin typeface="Segoe UI Semibold"/>
              </a:rPr>
              <a:t>Multiple tracking IDs at 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64C66"/>
                </a:solidFill>
                <a:latin typeface="Segoe UI"/>
              </a:rPr>
              <a:t>The pipeline declines up front and asks which one — rather than silently picking the first and risking a confidently wrong answer.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37744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6517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1726"/>
                </a:solidFill>
                <a:latin typeface="Segoe UI Semibold"/>
              </a:rPr>
              <a:t>The “thinking” trace is a privilege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154680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64C66"/>
                </a:solidFill>
                <a:latin typeface="Segoe UI"/>
              </a:rPr>
              <a:t>Every stage above, streamed live, is only visible to support/ops/admin roles. Everyone else just sees the final answer — what makes the pipeline demoable without exposing internals to end users.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06 / 8</a:t>
            </a:r>
          </a:p>
        </p:txBody>
      </p:sp>
      <p:sp>
        <p:nvSpPr>
          <p:cNvPr id="12" name="Diamond 11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SEE IT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1E1726"/>
                </a:solidFill>
                <a:latin typeface="Segoe UI Semibold"/>
              </a:rPr>
              <a:t>Questions worth trying in the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12264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E1726"/>
                </a:solidFill>
                <a:latin typeface="Segoe UI"/>
              </a:rPr>
              <a:t>“Where is tracking number 700000000001 right now?”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322576"/>
            <a:ext cx="1241750" cy="29260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57A45"/>
                </a:solidFill>
                <a:latin typeface="Consolas"/>
              </a:rPr>
              <a:t>NO LLM · FREE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65960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12264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E1726"/>
                </a:solidFill>
                <a:latin typeface="Segoe UI"/>
              </a:rPr>
              <a:t>“Why are so many orders held at customs?”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0" y="2322576"/>
            <a:ext cx="848560" cy="292608"/>
          </a:xfrm>
          <a:prstGeom prst="roundRect">
            <a:avLst>
              <a:gd name="adj" fmla="val 50000"/>
            </a:avLst>
          </a:prstGeom>
          <a:solidFill>
            <a:srgbClr val="FF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6600"/>
                </a:solidFill>
                <a:latin typeface="Consolas"/>
              </a:rPr>
              <a:t>LLM 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72968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19272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E1726"/>
                </a:solidFill>
                <a:latin typeface="Segoe UI"/>
              </a:rPr>
              <a:t>“Show me all shipments for Smith Ltd”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529584"/>
            <a:ext cx="1241750" cy="29260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57A45"/>
                </a:solidFill>
                <a:latin typeface="Consolas"/>
              </a:rPr>
              <a:t>NO LLM · FREE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172968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319272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E1726"/>
                </a:solidFill>
                <a:latin typeface="Segoe UI"/>
              </a:rPr>
              <a:t>“What does the OTHER delay category include?”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87000" y="3529584"/>
            <a:ext cx="848560" cy="292608"/>
          </a:xfrm>
          <a:prstGeom prst="roundRect">
            <a:avLst>
              <a:gd name="adj" fmla="val 50000"/>
            </a:avLst>
          </a:prstGeom>
          <a:solidFill>
            <a:srgbClr val="FF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6600"/>
                </a:solidFill>
                <a:latin typeface="Consolas"/>
              </a:rPr>
              <a:t>LLM CALL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79976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526280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E1726"/>
                </a:solidFill>
                <a:latin typeface="Segoe UI"/>
              </a:rPr>
              <a:t>“Give me details about 400000000014 and their history of status”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4736592"/>
            <a:ext cx="848560" cy="292608"/>
          </a:xfrm>
          <a:prstGeom prst="roundRect">
            <a:avLst>
              <a:gd name="adj" fmla="val 50000"/>
            </a:avLst>
          </a:prstGeom>
          <a:solidFill>
            <a:srgbClr val="FF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6600"/>
                </a:solidFill>
                <a:latin typeface="Consolas"/>
              </a:rPr>
              <a:t>LLM 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379976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E1726"/>
                </a:solidFill>
                <a:latin typeface="Segoe UI"/>
              </a:rPr>
              <a:t>“What’s the issue with 800000000019?”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0" y="4736592"/>
            <a:ext cx="1241750" cy="29260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57A45"/>
                </a:solidFill>
                <a:latin typeface="Consolas"/>
              </a:rPr>
              <a:t>NO LLM · 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07 / 8</a:t>
            </a:r>
          </a:p>
        </p:txBody>
      </p:sp>
      <p:sp>
        <p:nvSpPr>
          <p:cNvPr id="24" name="Diamond 23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D148C"/>
                </a:solidFill>
                <a:latin typeface="Consolas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E1726"/>
                </a:solidFill>
                <a:latin typeface="Segoe UI Semibold"/>
              </a:rPr>
              <a:t>Thanks — let’s dig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564C66"/>
                </a:solidFill>
                <a:latin typeface="Segoe UI"/>
              </a:rPr>
              <a:t>Full technical detail, every bug fix, and the reasoning behind each design call lives in </a:t>
            </a:r>
            <a:r>
              <a:rPr sz="1500" b="1" i="0">
                <a:solidFill>
                  <a:srgbClr val="4D148C"/>
                </a:solidFill>
                <a:latin typeface="Consolas"/>
              </a:rPr>
              <a:t>AGENTIC_RAG_ARCHITECTURE.md</a:t>
            </a:r>
            <a:r>
              <a:rPr sz="1600" b="0" i="0">
                <a:solidFill>
                  <a:srgbClr val="564C66"/>
                </a:solidFill>
                <a:latin typeface="Segoe U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Consolas"/>
              </a:rPr>
              <a:t>08 / 8</a:t>
            </a:r>
          </a:p>
        </p:txBody>
      </p:sp>
      <p:sp>
        <p:nvSpPr>
          <p:cNvPr id="7" name="Diamond 6"/>
          <p:cNvSpPr/>
          <p:nvPr/>
        </p:nvSpPr>
        <p:spPr>
          <a:xfrm>
            <a:off x="640080" y="6510528"/>
            <a:ext cx="128016" cy="128016"/>
          </a:xfrm>
          <a:prstGeom prst="diamond">
            <a:avLst/>
          </a:prstGeom>
          <a:solidFill>
            <a:srgbClr val="4D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7F9C"/>
                </a:solidFill>
                <a:latin typeface="Segoe UI"/>
              </a:rPr>
              <a:t>ShipTrack · AI Shipment 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