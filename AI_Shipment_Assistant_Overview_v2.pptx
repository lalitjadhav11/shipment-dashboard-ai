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40080" y="777240"/>
            <a:ext cx="201168" cy="201168"/>
          </a:xfrm>
          <a:prstGeom prst="diamond">
            <a:avLst/>
          </a:prstGeom>
          <a:gradFill rotWithShape="1">
            <a:gsLst>
              <a:gs pos="0">
                <a:srgbClr val="4D148C"/>
              </a:gs>
              <a:gs pos="100000">
                <a:srgbClr val="FF66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58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1726"/>
                </a:solidFill>
                <a:latin typeface="Segoe UI Semibold"/>
              </a:rPr>
              <a:t>ShipTrack · AI Shipment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TEAM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How the assistant thinks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through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64C66"/>
                </a:solidFill>
                <a:latin typeface="Segoe UI"/>
              </a:rPr>
              <a:t>An overview of the pipeline behind every answer — what runs for free, what calls an LLM, and why the product needs AI in the first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pipeline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zero-LLM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LLM fallback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01 / 8</a:t>
            </a:r>
          </a:p>
        </p:txBody>
      </p:sp>
      <p:sp>
        <p:nvSpPr>
          <p:cNvPr id="15" name="Diamond 14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Live shipment data, answered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64C66"/>
                </a:solidFill>
                <a:latin typeface="Segoe UI"/>
              </a:rPr>
              <a:t>A real-time shipment dashboard, paired with a conversational AI assistant that turns any question about that data into an instant, accurate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FE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4D148C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What it is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680460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611880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Real-time tracking across pickup, customs, transit, delivery, and exceptions.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4247388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178808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25,000+ live shipments, each with a full journey history and issue log.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814316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745736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A chat assistant beside the dashboard — ask instead of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626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571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6600"/>
                </a:solidFill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Why it needs AI</a:t>
            </a:r>
          </a:p>
        </p:txBody>
      </p:sp>
      <p:sp>
        <p:nvSpPr>
          <p:cNvPr id="20" name="Oval 19"/>
          <p:cNvSpPr/>
          <p:nvPr/>
        </p:nvSpPr>
        <p:spPr>
          <a:xfrm>
            <a:off x="4613148" y="3680460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6884" y="3611880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Real questions span tables no single dashboard screen shows together.</a:t>
            </a:r>
          </a:p>
        </p:txBody>
      </p:sp>
      <p:sp>
        <p:nvSpPr>
          <p:cNvPr id="22" name="Oval 21"/>
          <p:cNvSpPr/>
          <p:nvPr/>
        </p:nvSpPr>
        <p:spPr>
          <a:xfrm>
            <a:off x="4613148" y="4247388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6884" y="4178808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Can't ship a new screen for every new question shape customers ask.</a:t>
            </a:r>
          </a:p>
        </p:txBody>
      </p:sp>
      <p:sp>
        <p:nvSpPr>
          <p:cNvPr id="24" name="Oval 23"/>
          <p:cNvSpPr/>
          <p:nvPr/>
        </p:nvSpPr>
        <p:spPr>
          <a:xfrm>
            <a:off x="4613148" y="4814316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6884" y="4745736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Support teams translate questions into filters instead of answering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1189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157A45"/>
                </a:solidFill>
              </a:rP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PAYOFF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Value to the 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621024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3611880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Instant, specific answers — names the real reason, never “delayed.”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4187952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178808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Grounded in live data — every answer traces to a real, validated query.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754880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4745736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Free &amp; 24/7 — a $0 fast path handles common questions, day or night.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25,000+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shipments tracked live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5342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8222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8222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instant, $0-cost templates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0604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3484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Seconds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3484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vs. minutes of manual digging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5866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8746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24/7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8746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self-service, no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02 / 8</a:t>
            </a:r>
          </a:p>
        </p:txBody>
      </p:sp>
      <p:sp>
        <p:nvSpPr>
          <p:cNvPr id="49" name="Diamond 48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Most answers never touch an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A fast, free, deterministic path (v0) handles anything it recognizes. An LLM only gets involved (v1) when nothing else fits — and even then, only in two narrow, controlled 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Template 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28 pre-built, pre-tested 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364992"/>
            <a:ext cx="1163112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INSTANT ·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718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Runs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 model call, no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05655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Nothing 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89703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Novel or compound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1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drafts a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Narrow schema, extracted values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writes the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Grounded only in the returned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B7F9C"/>
                </a:solidFill>
                <a:latin typeface="Segoe UI"/>
              </a:rPr>
              <a:t>This is the whole reason the system is cheap and fast — and still handles the long 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03 / 8</a:t>
            </a:r>
          </a:p>
        </p:txBody>
      </p:sp>
      <p:sp>
        <p:nvSpPr>
          <p:cNvPr id="28" name="Diamond 27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FULL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Seven stages, one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Every question passes through the same fixed sequence — no agent loops, no branching frameworks. Just a pipeline with two optional side-doors.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1 ·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known question?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2 ·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IDs, names,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3 · Schema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tables matter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4a · Template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4b · LLM drafts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5 ·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Safety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516636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6 · 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Read-only DB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7a ·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7b · LLM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04 / 8</a:t>
            </a:r>
          </a:p>
        </p:txBody>
      </p:sp>
      <p:sp>
        <p:nvSpPr>
          <p:cNvPr id="37" name="Diamond 3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E1726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64C66"/>
                </a:solidFill>
                <a:latin typeface="Segoe UI"/>
              </a:rPr>
              <a:t>A conventional, boring-on-purpose stack — the interesting decisions are in the pipeline, not the plumbing.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4864" cy="822960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404872"/>
            <a:ext cx="801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React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656" y="2404872"/>
            <a:ext cx="501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0472" y="2404872"/>
            <a:ext cx="17757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Nginx (reverse proxy)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4864" cy="822960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0896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Backend /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364992"/>
            <a:ext cx="7260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4676" y="3364992"/>
            <a:ext cx="12508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Uvicorn (ASGI)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5292" y="3364992"/>
            <a:ext cx="10259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Python 3.11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69080"/>
            <a:ext cx="54864" cy="82296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0690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AI / NLP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325112"/>
            <a:ext cx="17757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sentence-transformers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4396" y="4325112"/>
            <a:ext cx="8759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rapidfuzz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0112" y="4325112"/>
            <a:ext cx="9509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dateparser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08" y="4325112"/>
            <a:ext cx="7260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sqlglot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56564" y="4325112"/>
            <a:ext cx="20006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Claude / Gemini / Ollama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54864" cy="822960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02920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1726"/>
                </a:solidFill>
                <a:latin typeface="Segoe UI Semibold"/>
              </a:rPr>
              <a:t>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285232"/>
            <a:ext cx="11759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PostgreSQL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4556" y="5285232"/>
            <a:ext cx="17007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Read-only agent role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85052" y="5285232"/>
            <a:ext cx="8010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1E1726"/>
                </a:solidFill>
                <a:latin typeface="Consolas"/>
              </a:rPr>
              <a:t>pgcrypto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1675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B7F9C"/>
                </a:solidFill>
                <a:latin typeface="Segoe UI"/>
              </a:rPr>
              <a:t>Orchestrated end-to-end with Docker Compose — db, backend, frontend, and two one-shot seeding jobs.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05 / 8</a:t>
            </a:r>
          </a:p>
        </p:txBody>
      </p:sp>
      <p:sp>
        <p:nvSpPr>
          <p:cNvPr id="34" name="Diamond 33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i="0">
                <a:solidFill>
                  <a:srgbClr val="1E1726"/>
                </a:solidFill>
                <a:latin typeface="Segoe UI Semibold"/>
              </a:rPr>
              <a:t>Five tables, one shipment-centric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64C66"/>
                </a:solidFill>
                <a:latin typeface="Segoe UI"/>
              </a:rPr>
              <a:t>tracking_id — not a UUID — is the shipment's stable, externally-visible primary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9397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1726"/>
                </a:solidFill>
                <a:latin typeface="Consola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8658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D148C"/>
                </a:solidFill>
                <a:latin typeface="Consolas"/>
              </a:rPr>
              <a:t>PK: customer_id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6"/>
            <a:ext cx="265176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org_name, fedex_account_id (unique),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customer_profile (JSONB), is_active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3774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65960"/>
            <a:ext cx="7436815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093976"/>
            <a:ext cx="707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1726"/>
                </a:solidFill>
                <a:latin typeface="Consolas"/>
              </a:rPr>
              <a:t>shipments  ← the core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86584"/>
            <a:ext cx="7071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D148C"/>
                </a:solidFill>
                <a:latin typeface="Consolas"/>
              </a:rPr>
              <a:t>PK: tracking_id  ·  FK: customer_id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42616"/>
            <a:ext cx="7071055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package (type/size/weight), delivery_type, customs_status, current_status, reason_for_delay — the widest table; nearly every question touches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35808"/>
            <a:ext cx="23573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B7F9C"/>
                </a:solidFill>
                <a:latin typeface="Consolas"/>
              </a:rPr>
              <a:t>▼ FK: tracking_id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5003" y="3035808"/>
            <a:ext cx="23573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B7F9C"/>
                </a:solidFill>
                <a:latin typeface="Consolas"/>
              </a:rPr>
              <a:t>▼ FK: tracking_id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5206" y="3035808"/>
            <a:ext cx="23573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B7F9C"/>
                </a:solidFill>
                <a:latin typeface="Consolas"/>
              </a:rPr>
              <a:t>▼ FK: tracking_id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310128"/>
            <a:ext cx="235732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438144"/>
            <a:ext cx="1991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1726"/>
                </a:solidFill>
                <a:latin typeface="Consolas"/>
              </a:rPr>
              <a:t>tracking_events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30752"/>
            <a:ext cx="19915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D148C"/>
                </a:solidFill>
                <a:latin typeface="Consolas"/>
              </a:rPr>
              <a:t>PK: event_id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86784"/>
            <a:ext cx="1991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B7F9C"/>
                </a:solidFill>
                <a:latin typeface="Segoe UI"/>
              </a:rPr>
              <a:t>Append-only journey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52544"/>
            <a:ext cx="1991563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stage, location,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event_timestamp,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5003" y="3310128"/>
            <a:ext cx="235732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7883" y="3438144"/>
            <a:ext cx="1991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1726"/>
                </a:solidFill>
                <a:latin typeface="Consolas"/>
              </a:rPr>
              <a:t>shipment_issues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7883" y="3730752"/>
            <a:ext cx="19915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D148C"/>
                </a:solidFill>
                <a:latin typeface="Consolas"/>
              </a:rPr>
              <a:t>PK: issue_id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7883" y="3986784"/>
            <a:ext cx="1991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B7F9C"/>
                </a:solidFill>
                <a:latin typeface="Segoe UI"/>
              </a:rPr>
              <a:t>One row per delay / RCA incident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7883" y="4352544"/>
            <a:ext cx="1991563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issue_type, status,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description, resolved_at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5206" y="3310128"/>
            <a:ext cx="235732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8086" y="3438144"/>
            <a:ext cx="1991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1726"/>
                </a:solidFill>
                <a:latin typeface="Consolas"/>
              </a:rPr>
              <a:t>shipment_chat_log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8086" y="3730752"/>
            <a:ext cx="19915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D148C"/>
                </a:solidFill>
                <a:latin typeface="Consolas"/>
              </a:rPr>
              <a:t>PK: chat_id · FK: customer_id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8086" y="3986784"/>
            <a:ext cx="1991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B7F9C"/>
                </a:solidFill>
                <a:latin typeface="Segoe UI"/>
              </a:rPr>
              <a:t>Audit log of every AI chat 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086" y="4352544"/>
            <a:ext cx="1991563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user_query, ai_response,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64C66"/>
                </a:solidFill>
                <a:latin typeface="Segoe UI"/>
              </a:rPr>
              <a:t>confidence_score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57800"/>
            <a:ext cx="255666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05856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core 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5342" y="5257800"/>
            <a:ext cx="255666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8222" y="5349240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8222" y="5705856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enum 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604" y="5257800"/>
            <a:ext cx="255666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3484" y="5349240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484" y="5705856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dashboard + chat views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5866" y="5257800"/>
            <a:ext cx="255666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8746" y="5349240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8746" y="5705856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auto-maintained triggers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06 / 8</a:t>
            </a:r>
          </a:p>
        </p:txBody>
      </p:sp>
      <p:sp>
        <p:nvSpPr>
          <p:cNvPr id="46" name="Diamond 45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FROM REAL BUG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A fillable answer isn’t the same as a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64C66"/>
                </a:solidFill>
                <a:latin typeface="Segoe UI"/>
              </a:rPr>
              <a:t>The recurring lesson across dozens of live fixes: a template can match confidently and still answer the wrong question. The fix is never “wait for a smarter model” — it’s naming the signal and routing around the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“Why are shipments delayed by weather?”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Matched a plain count breakdown — technically ran, never explained anything. Now detected and routed to the LLM instead.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“…their history of status”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The LLM once denied historical data existed — because it was never shown the journey-log table. Now force-included and explicitly pointed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“800000000019give me…”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missing space silently defeated ID extraction entirely. Two-stage bug: the fix wasn’t in routing, it was two stages earlier.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07 / 8</a:t>
            </a:r>
          </a:p>
        </p:txBody>
      </p:sp>
      <p:sp>
        <p:nvSpPr>
          <p:cNvPr id="19" name="Diamond 18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CHECKED BEFORE ANY STAGE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Two rules that apply to every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Multiple tracking IDs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The pipeline declines up front and asks which one — rather than silently picking the first and risking a confidently wrong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The “thinking” trace is a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Every stage above, streamed live, is only visible to support/ops/admin roles. Everyone else just sees the final answer — what makes the pipeline demoable without exposing internals to end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08 / 8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Questions worth trying in the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“Where is tracking number 700000000001 right now?”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22576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“Why are so many orders held at customs?”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322576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“Show me all shipments for Smith Ltd”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52958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 does the OTHER delay category include?”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3529584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“Give me details about 400000000014 and their history of status”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“What’s the issue with 800000000019?”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736592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09 / 8</a:t>
            </a:r>
          </a:p>
        </p:txBody>
      </p:sp>
      <p:sp>
        <p:nvSpPr>
          <p:cNvPr id="24" name="Diamond 23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1726"/>
                </a:solidFill>
                <a:latin typeface="Segoe UI Semibold"/>
              </a:rPr>
              <a:t>Thanks — let’s dig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64C66"/>
                </a:solidFill>
                <a:latin typeface="Segoe UI"/>
              </a:rPr>
              <a:t>Full technical detail, every bug fix, and the reasoning behind each design call lives in </a:t>
            </a:r>
            <a:r>
              <a:rPr sz="1500" b="1" i="0">
                <a:solidFill>
                  <a:srgbClr val="4D148C"/>
                </a:solidFill>
                <a:latin typeface="Consolas"/>
              </a:rPr>
              <a:t>AGENTIC_RAG_ARCHITECTURE.md</a:t>
            </a:r>
            <a:r>
              <a:rPr sz="1600" b="0" i="0">
                <a:solidFill>
                  <a:srgbClr val="564C66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10 / 8</a:t>
            </a:r>
          </a:p>
        </p:txBody>
      </p:sp>
      <p:sp>
        <p:nvSpPr>
          <p:cNvPr id="7" name="Diamond 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