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640080" y="777240"/>
            <a:ext cx="201168" cy="201168"/>
          </a:xfrm>
          <a:prstGeom prst="diamond">
            <a:avLst/>
          </a:prstGeom>
          <a:gradFill rotWithShape="1">
            <a:gsLst>
              <a:gs pos="0">
                <a:srgbClr val="4D148C"/>
              </a:gs>
              <a:gs pos="100000">
                <a:srgbClr val="FF660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758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1726"/>
                </a:solidFill>
                <a:latin typeface="Segoe UI Semibold"/>
              </a:rPr>
              <a:t>ShipTrack · AI Shipment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TEAM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1E1726"/>
                </a:solidFill>
                <a:latin typeface="Segoe UI Semibold"/>
              </a:rPr>
              <a:t>How the assistant thinks</a:t>
            </a:r>
          </a:p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1E1726"/>
                </a:solidFill>
                <a:latin typeface="Segoe UI Semibold"/>
              </a:rPr>
              <a:t>through 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564C66"/>
                </a:solidFill>
                <a:latin typeface="Segoe UI"/>
              </a:rPr>
              <a:t>A stage-by-stage tour of the pipeline behind every answer — what runs for free, what calls an LLM, and the real edge cases each stage was built to catch.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D148C"/>
                </a:solidFill>
                <a:latin typeface="Consolas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7F9C"/>
                </a:solidFill>
                <a:latin typeface="Segoe UI"/>
              </a:rPr>
              <a:t>pipeline stages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7091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D148C"/>
                </a:solidFill>
                <a:latin typeface="Consolas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3492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7F9C"/>
                </a:solidFill>
                <a:latin typeface="Segoe UI"/>
              </a:rPr>
              <a:t>zero-LLM templates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7091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D148C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53492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7F9C"/>
                </a:solidFill>
                <a:latin typeface="Segoe UI"/>
              </a:rPr>
              <a:t>LLM fallback stages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01 / 14</a:t>
            </a:r>
          </a:p>
        </p:txBody>
      </p:sp>
      <p:sp>
        <p:nvSpPr>
          <p:cNvPr id="15" name="Diamond 14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E1726"/>
                </a:solidFill>
                <a:latin typeface="Segoe UI Semibold"/>
              </a:rPr>
              <a:t>Most answers never touch an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564C66"/>
                </a:solidFill>
                <a:latin typeface="Segoe UI"/>
              </a:rPr>
              <a:t>A fast, free, deterministic path (v0) handles anything it recognizes. An LLM only gets involved (v1) when nothing else fits — and even then, only in two narrow, controlled spots.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5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734056"/>
            <a:ext cx="2688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Template matches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118104"/>
            <a:ext cx="26883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28 pre-built, pre-tested SQL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3364992"/>
            <a:ext cx="1163112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INSTANT · 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97180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60604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2734056"/>
            <a:ext cx="2688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Runs immediately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3118104"/>
            <a:ext cx="26883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No model call, no waiting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105655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Nothing fits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489703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Novel or compound question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736592"/>
            <a:ext cx="848560" cy="292608"/>
          </a:xfrm>
          <a:prstGeom prst="roundRect">
            <a:avLst>
              <a:gd name="adj" fmla="val 50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6600"/>
                </a:solidFill>
                <a:latin typeface="Consolas"/>
              </a:rPr>
              <a:t>LLM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434340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3977639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13631" y="4105655"/>
            <a:ext cx="2414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LLM drafts a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1" y="4489703"/>
            <a:ext cx="2414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Narrow schema, extracted values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4340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3977639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4105655"/>
            <a:ext cx="2414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LLM writes the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4489703"/>
            <a:ext cx="2414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Grounded only in the returned rows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8B7F9C"/>
                </a:solidFill>
                <a:latin typeface="Segoe UI"/>
              </a:rPr>
              <a:t>This is the whole reason the system is cheap and fast — and still handles the long tail.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02 / 14</a:t>
            </a:r>
          </a:p>
        </p:txBody>
      </p:sp>
      <p:sp>
        <p:nvSpPr>
          <p:cNvPr id="28" name="Diamond 27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THE FULL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E1726"/>
                </a:solidFill>
                <a:latin typeface="Segoe UI Semibold"/>
              </a:rPr>
              <a:t>Seven stages, one straight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564C66"/>
                </a:solidFill>
                <a:latin typeface="Segoe UI"/>
              </a:rPr>
              <a:t>Every question passes through the same fixed sequence — no agent loops, no branching frameworks. Just a pipeline with two optional side-doors.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642616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1 ·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26664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Which known question?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752" y="283464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7368" y="251460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642616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2 · 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026664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IDs, names,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83464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4656" y="251460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2642616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3 · Schema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3026664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Which tables matter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5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831336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4a · Template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215384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Fast 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70332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6752" y="3831336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4b · LLM drafts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4215384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Fallback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463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974336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5 · Guardrails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358384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Safety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516636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48463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9392" y="4974336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6 · Execute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5358384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Read-only DB role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48463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5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82712" y="4974336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7a · Template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2712" y="5358384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Fast path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21240" y="48463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4974336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7b · LLM 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85832" y="5358384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Fallback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03 / 14</a:t>
            </a:r>
          </a:p>
        </p:txBody>
      </p:sp>
      <p:sp>
        <p:nvSpPr>
          <p:cNvPr id="37" name="Diamond 36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32004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5400" b="1" i="0">
                <a:solidFill>
                  <a:srgbClr val="EFE6F9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STAGE 1 · INTENT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E1726"/>
                </a:solidFill>
                <a:latin typeface="Segoe UI Semibold"/>
              </a:rPr>
              <a:t>Which known question is this closest to?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197864" cy="329184"/>
          </a:xfrm>
          <a:prstGeom prst="roundRect">
            <a:avLst>
              <a:gd name="adj" fmla="val 50000"/>
            </a:avLst>
          </a:prstGeom>
          <a:solidFill>
            <a:srgbClr val="4D148C"/>
          </a:solidFill>
          <a:ln w="12700">
            <a:solidFill>
              <a:srgbClr val="4D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1 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7672" y="1691640"/>
            <a:ext cx="138074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2 Entities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91640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3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4296" y="1691640"/>
            <a:ext cx="92354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4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87568" y="1691640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5 Guardrail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12893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6 Execute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68512" y="1691640"/>
            <a:ext cx="11978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7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8600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432304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16352"/>
            <a:ext cx="4709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Turns the question into a vector (“embedding”) and compares it against 28 pre-written example questions — one per supported intent. Picks whichever is closest.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286000"/>
            <a:ext cx="41148" cy="1175893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2286000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Confidence floor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596896"/>
            <a:ext cx="5413248" cy="8649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Below 0.40 similarity, it honestly says “no match” instead of guessing — tuned against real out-of-domain questions vs. real paraphrases.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626485"/>
            <a:ext cx="41148" cy="864743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3626485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Allowed to say “I don’t know”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3937381"/>
            <a:ext cx="5413248" cy="5538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That’s what gives Stage 4b’s LLM fallback a reason to exist at all.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04 / 14</a:t>
            </a:r>
          </a:p>
        </p:txBody>
      </p:sp>
      <p:sp>
        <p:nvSpPr>
          <p:cNvPr id="23" name="Diamond 22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32004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5400" b="1" i="0">
                <a:solidFill>
                  <a:srgbClr val="EFE6F9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STAGE 2 · ENTITY EXTRACTOR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E1726"/>
                </a:solidFill>
                <a:latin typeface="Segoe UI Semibold"/>
              </a:rPr>
              <a:t>What’s actually mentioned in the text?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1978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1 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7672" y="1691640"/>
            <a:ext cx="1380744" cy="329184"/>
          </a:xfrm>
          <a:prstGeom prst="roundRect">
            <a:avLst>
              <a:gd name="adj" fmla="val 50000"/>
            </a:avLst>
          </a:prstGeom>
          <a:solidFill>
            <a:srgbClr val="4D148C"/>
          </a:solidFill>
          <a:ln w="12700">
            <a:solidFill>
              <a:srgbClr val="4D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2 Entities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91640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3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4296" y="1691640"/>
            <a:ext cx="92354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4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87568" y="1691640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5 Guardrail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12893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6 Execute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68512" y="1691640"/>
            <a:ext cx="11978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7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8600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432304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16352"/>
            <a:ext cx="4709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Regex + fuzzy string matching pull out tracking IDs, status/package/delivery-type words, customer names, cities, and dates — no model call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5074920" cy="1051560"/>
          </a:xfrm>
          <a:prstGeom prst="roundRect">
            <a:avLst>
              <a:gd name="adj" fmla="val 10000"/>
            </a:avLst>
          </a:prstGeom>
          <a:solidFill>
            <a:srgbClr val="EFE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77640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4D148C"/>
                </a:solidFill>
                <a:latin typeface="Segoe UI"/>
              </a:rPr>
              <a:t>“800000000019give the summary” → still finds the tracking ID, even glued to the next word with no space.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286000"/>
            <a:ext cx="41148" cy="1038097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2286000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Typo/spacing-tolerant 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2596896"/>
            <a:ext cx="5413248" cy="7272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Looks for “9–15 digits not glued to another digit,” not “clean word boundaries” — survives missing spaces.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488689"/>
            <a:ext cx="41148" cy="1055878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3488689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Fuzzy matching without false positives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3799585"/>
            <a:ext cx="5413248" cy="7449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“customs” correctly matches CUSTOMS_HOLD — but “pallet package shipments” does not wrongly match LOST_PACKAGE.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4709159"/>
            <a:ext cx="41148" cy="935862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53912" y="4709159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Multiple tracking IDs captured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5020055"/>
            <a:ext cx="5413248" cy="624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So the pipeline can ask “which one?” instead of silently answering about the first.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05 / 14</a:t>
            </a:r>
          </a:p>
        </p:txBody>
      </p:sp>
      <p:sp>
        <p:nvSpPr>
          <p:cNvPr id="28" name="Diamond 27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32004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5400" b="1" i="0">
                <a:solidFill>
                  <a:srgbClr val="EFE6F9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STAGE 3 · SCHEMA SCOPER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E1726"/>
                </a:solidFill>
                <a:latin typeface="Segoe UI Semibold"/>
              </a:rPr>
              <a:t>Which tables actually matter here?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1978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1 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7672" y="1691640"/>
            <a:ext cx="138074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2 Entities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91640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4D148C"/>
          </a:solidFill>
          <a:ln w="12700">
            <a:solidFill>
              <a:srgbClr val="4D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3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4296" y="1691640"/>
            <a:ext cx="92354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4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87568" y="1691640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5 Guardrail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12893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6 Execute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68512" y="1691640"/>
            <a:ext cx="11978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7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8600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432304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16352"/>
            <a:ext cx="4709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Ranks every table/view by relevance and keeps the top few — this narrow slice is the only thing an LLM ever sees later. Small prompts, low hallucination risk.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286000"/>
            <a:ext cx="41148" cy="1180338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2286000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A specific thing is named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596896"/>
            <a:ext cx="5413248" cy="8694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A tracking ID, customer, city, or “give me 5 shipments” → the raw shipments table is force-included, even if a summary view scored higher.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630930"/>
            <a:ext cx="41148" cy="1233678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3630930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A “why”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3941826"/>
            <a:ext cx="5413248" cy="9227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The table with real incident descriptions is forced in — its own field names don’t share vocabulary with “why,” so it wouldn’t rank high enough alone.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5029200"/>
            <a:ext cx="41148" cy="815847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5029200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A “history/timeline”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5340096"/>
            <a:ext cx="5413248" cy="5049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The journey-log table is forced in, for the same reason.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06 / 14</a:t>
            </a:r>
          </a:p>
        </p:txBody>
      </p:sp>
      <p:sp>
        <p:nvSpPr>
          <p:cNvPr id="26" name="Diamond 25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32004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5400" b="1" i="0">
                <a:solidFill>
                  <a:srgbClr val="EFE6F9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STAGE 4 · GENERATE THE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E1726"/>
                </a:solidFill>
                <a:latin typeface="Segoe UI Semibold"/>
              </a:rPr>
              <a:t>Fill a template — or draft 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1978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1 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7672" y="1691640"/>
            <a:ext cx="138074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2 Entities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91640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3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4296" y="1691640"/>
            <a:ext cx="923544" cy="329184"/>
          </a:xfrm>
          <a:prstGeom prst="roundRect">
            <a:avLst>
              <a:gd name="adj" fmla="val 50000"/>
            </a:avLst>
          </a:prstGeom>
          <a:solidFill>
            <a:srgbClr val="4D148C"/>
          </a:solidFill>
          <a:ln w="12700">
            <a:solidFill>
              <a:srgbClr val="4D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4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87568" y="1691640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5 Guardrail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12893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6 Execute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68512" y="1691640"/>
            <a:ext cx="11978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7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860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432304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16352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28 pre-written, pre-tested queries covering the common shapes of question. If one matches, it runs instantly.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032504"/>
            <a:ext cx="848560" cy="292608"/>
          </a:xfrm>
          <a:prstGeom prst="roundRect">
            <a:avLst>
              <a:gd name="adj" fmla="val 50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6600"/>
                </a:solidFill>
                <a:latin typeface="Consolas"/>
              </a:rPr>
              <a:t>LLM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16552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Only reached when nothing fits. Writes new SQL — but only against Stage 3’s narrow table list, and only using values Stage 2 already extracted. It can never invent an ID or date.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286000"/>
            <a:ext cx="41148" cy="882523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2286000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Bare tracking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596896"/>
            <a:ext cx="5413248" cy="5716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“700000000001” alone → defaults to “where is my package,” a safe guess.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3333115"/>
            <a:ext cx="41148" cy="1038097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3333115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ID + a sharper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3644011"/>
            <a:ext cx="5413248" cy="7272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“What was the previous stage of X?” doesn’t get force-fit into the generic template — falls to 4b instead.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4535804"/>
            <a:ext cx="41148" cy="89585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3912" y="4535804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“Why” matched a non-explaining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4846700"/>
            <a:ext cx="5413248" cy="584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A plain count can’t answer “why” — rejected on purpose, routed to the LLM.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5596254"/>
            <a:ext cx="41148" cy="83362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53912" y="5596254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“Show me all X” matched a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5907150"/>
            <a:ext cx="5413248" cy="522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Same rejection — an aggregate table isn’t a list of records.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07 / 14</a:t>
            </a:r>
          </a:p>
        </p:txBody>
      </p:sp>
      <p:sp>
        <p:nvSpPr>
          <p:cNvPr id="32" name="Diamond 31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32004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5400" b="1" i="0">
                <a:solidFill>
                  <a:srgbClr val="EFE6F9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STAGE 5 · GUARDRAIL VALIDATOR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E1726"/>
                </a:solidFill>
                <a:latin typeface="Segoe UI Semibold"/>
              </a:rPr>
              <a:t>Nothing runs until it’s checked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1978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1 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7672" y="1691640"/>
            <a:ext cx="138074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2 Entities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91640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3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4296" y="1691640"/>
            <a:ext cx="92354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4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87568" y="1691640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4D148C"/>
          </a:solidFill>
          <a:ln w="12700">
            <a:solidFill>
              <a:srgbClr val="4D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5 Guardrail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12893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6 Execute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68512" y="1691640"/>
            <a:ext cx="11978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7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8600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432304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16352"/>
            <a:ext cx="4709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Every generated query — template or LLM — is parsed and checked before it ever touches the database: SELECT-only, only approved tables, only real or clearly-computed columns.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5074920" cy="1051560"/>
          </a:xfrm>
          <a:prstGeom prst="roundRect">
            <a:avLst>
              <a:gd name="adj" fmla="val 10000"/>
            </a:avLst>
          </a:prstGeom>
          <a:solidFill>
            <a:srgbClr val="EFE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77640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4D148C"/>
                </a:solidFill>
                <a:latin typeface="Segoe UI"/>
              </a:rPr>
              <a:t>This is the safety-critical stage. It doesn’t care which stage produced the SQL — the check is identical either way.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286000"/>
            <a:ext cx="41148" cy="1011428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2286000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Computed aliases, correctly recognized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2596896"/>
            <a:ext cx="5413248" cy="70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A running count like COUNT(*) AS total is recognized as legitimate — even nested inside a sub-query.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08 / 14</a:t>
            </a:r>
          </a:p>
        </p:txBody>
      </p:sp>
      <p:sp>
        <p:nvSpPr>
          <p:cNvPr id="22" name="Diamond 21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32004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5400" b="1" i="0">
                <a:solidFill>
                  <a:srgbClr val="EFE6F9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STAGE 6 · EXECUTE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E1726"/>
                </a:solidFill>
                <a:latin typeface="Segoe UI Semibold"/>
              </a:rPr>
              <a:t>Read-only, always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1978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1 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7672" y="1691640"/>
            <a:ext cx="138074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2 Entities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91640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3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4296" y="1691640"/>
            <a:ext cx="92354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4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87568" y="1691640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5 Guardrail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1289304" cy="329184"/>
          </a:xfrm>
          <a:prstGeom prst="roundRect">
            <a:avLst>
              <a:gd name="adj" fmla="val 50000"/>
            </a:avLst>
          </a:prstGeom>
          <a:solidFill>
            <a:srgbClr val="4D148C"/>
          </a:solidFill>
          <a:ln w="12700">
            <a:solidFill>
              <a:srgbClr val="4D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6 Execute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68512" y="1691640"/>
            <a:ext cx="11978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8B7F9C"/>
                </a:solidFill>
                <a:latin typeface="Consolas"/>
              </a:rPr>
              <a:t>7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8600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432304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16352"/>
            <a:ext cx="4709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Runs the approved query through a database account that can only ever read, never write — with a timeout so nothing runs forever.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286000"/>
            <a:ext cx="41148" cy="1046987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2286000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Safe SQL can still fail at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596896"/>
            <a:ext cx="5413248" cy="7360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A timeout or DB hiccup is caught cleanly and turned into an honest “couldn’t get an answer” — never a crash.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09 / 14</a:t>
            </a:r>
          </a:p>
        </p:txBody>
      </p:sp>
      <p:sp>
        <p:nvSpPr>
          <p:cNvPr id="20" name="Diamond 19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32004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5400" b="1" i="0">
                <a:solidFill>
                  <a:srgbClr val="EFE6F9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STAGE 7 · WRITE 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E1726"/>
                </a:solidFill>
                <a:latin typeface="Segoe UI Semibold"/>
              </a:rPr>
              <a:t>Fill a sentence — or write 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1978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1 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7672" y="1691640"/>
            <a:ext cx="138074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2 Entities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91640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3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4296" y="1691640"/>
            <a:ext cx="92354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4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87568" y="1691640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5 Guardrail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12893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0">
                <a:solidFill>
                  <a:srgbClr val="564C66"/>
                </a:solidFill>
                <a:latin typeface="Consolas"/>
              </a:rPr>
              <a:t>6 Execute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68512" y="1691640"/>
            <a:ext cx="1197864" cy="329184"/>
          </a:xfrm>
          <a:prstGeom prst="roundRect">
            <a:avLst>
              <a:gd name="adj" fmla="val 50000"/>
            </a:avLst>
          </a:prstGeom>
          <a:solidFill>
            <a:srgbClr val="4D148C"/>
          </a:solidFill>
          <a:ln w="12700">
            <a:solidFill>
              <a:srgbClr val="4D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7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860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432304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16352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Turns template rows into a clean, pre-written sentence.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032504"/>
            <a:ext cx="848560" cy="292608"/>
          </a:xfrm>
          <a:prstGeom prst="roundRect">
            <a:avLst>
              <a:gd name="adj" fmla="val 50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6600"/>
                </a:solidFill>
                <a:latin typeface="Consolas"/>
              </a:rPr>
              <a:t>LLM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16552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Only for Stage 4b’s rows. Turns them into natural prose, grounded only in what came back.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286000"/>
            <a:ext cx="41148" cy="918083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2286000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Every list shows the true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596896"/>
            <a:ext cx="5413248" cy="607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“20 of 600 shipments” — not a bare “20” that quietly implies that’s everything.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3368675"/>
            <a:ext cx="41148" cy="926973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3368675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“Any open issues?” checks resolved ones too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3679571"/>
            <a:ext cx="5413248" cy="6160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A shipment that had a problem, now fixed, doesn’t get a false “no issues at all.”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4460240"/>
            <a:ext cx="41148" cy="100698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3912" y="4460240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Told what SQL already ran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4771136"/>
            <a:ext cx="5413248" cy="6960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So it can’t claim “that isn’t available” just because a filter column isn’t repeated in the output.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5631815"/>
            <a:ext cx="41148" cy="88696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53912" y="5631815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A blank answer counts as a 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5942711"/>
            <a:ext cx="5413248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Rare, but it happens — treated as a failure, not a valid empty response.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10 / 14</a:t>
            </a:r>
          </a:p>
        </p:txBody>
      </p:sp>
      <p:sp>
        <p:nvSpPr>
          <p:cNvPr id="32" name="Diamond 31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FROM REAL BUG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E1726"/>
                </a:solidFill>
                <a:latin typeface="Segoe UI Semibold"/>
              </a:rPr>
              <a:t>A fillable answer isn’t the same as a right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64C66"/>
                </a:solidFill>
                <a:latin typeface="Segoe UI"/>
              </a:rPr>
              <a:t>The recurring lesson across dozens of live fixes: a template can match confidently and still answer the wrong question. The fix is never “wait for a smarter model” — it’s naming the signal and routing around the gap.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3520440" cy="54864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1726"/>
                </a:solidFill>
                <a:latin typeface="Segoe UI Semibold"/>
              </a:rPr>
              <a:t>“Why are shipments delayed by weather?”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Matched a plain count breakdown — technically ran, never explained anything. Now detected and routed to the LLM instead.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60604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606040"/>
            <a:ext cx="3520440" cy="54864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1726"/>
                </a:solidFill>
                <a:latin typeface="Segoe UI Semibold"/>
              </a:rPr>
              <a:t>“…their history of status”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1188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The LLM once denied historical data existed — because it was never shown the journey-log table. Now force-included and explicitly pointed 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60604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606040"/>
            <a:ext cx="3520440" cy="54864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8346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1726"/>
                </a:solidFill>
                <a:latin typeface="Segoe UI Semibold"/>
              </a:rPr>
              <a:t>“800000000019give me…”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61188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A missing space silently defeated ID extraction entirely. Two-stage bug: the fix wasn’t in routing, it was two stages earlier.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11 / 14</a:t>
            </a:r>
          </a:p>
        </p:txBody>
      </p:sp>
      <p:sp>
        <p:nvSpPr>
          <p:cNvPr id="19" name="Diamond 18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CHECKED BEFORE ANY STAGE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E1726"/>
                </a:solidFill>
                <a:latin typeface="Segoe UI Semibold"/>
              </a:rPr>
              <a:t>Two rules that apply to every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1726"/>
                </a:solidFill>
                <a:latin typeface="Segoe UI Semibold"/>
              </a:rPr>
              <a:t>Multiple tracking IDs at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64C66"/>
                </a:solidFill>
                <a:latin typeface="Segoe UI"/>
              </a:rPr>
              <a:t>The pipeline declines up front and asks which one — rather than silently picking the first and risking a confidently wrong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3774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6517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1726"/>
                </a:solidFill>
                <a:latin typeface="Segoe UI Semibold"/>
              </a:rPr>
              <a:t>The “thinking” trace is a privilege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15468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64C66"/>
                </a:solidFill>
                <a:latin typeface="Segoe UI"/>
              </a:rPr>
              <a:t>Every stage above, streamed live, is only visible to support/ops/admin roles. Everyone else just sees the final answer — what makes the pipeline demoable without exposing internals to end users.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12 / 14</a:t>
            </a:r>
          </a:p>
        </p:txBody>
      </p:sp>
      <p:sp>
        <p:nvSpPr>
          <p:cNvPr id="12" name="Diamond 11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SEE IT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E1726"/>
                </a:solidFill>
                <a:latin typeface="Segoe UI Semibold"/>
              </a:rPr>
              <a:t>Questions worth trying in the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12264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“Where is tracking number 700000000001 right now?”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322576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65960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12264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“Why are so many orders held at customs?”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0" y="2322576"/>
            <a:ext cx="848560" cy="292608"/>
          </a:xfrm>
          <a:prstGeom prst="roundRect">
            <a:avLst>
              <a:gd name="adj" fmla="val 50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6600"/>
                </a:solidFill>
                <a:latin typeface="Consolas"/>
              </a:rPr>
              <a:t>LLM 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72968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19272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“Show me all shipments for Smith Ltd”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529584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172968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319272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“What does the OTHER delay category include?”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87000" y="3529584"/>
            <a:ext cx="848560" cy="292608"/>
          </a:xfrm>
          <a:prstGeom prst="roundRect">
            <a:avLst>
              <a:gd name="adj" fmla="val 50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6600"/>
                </a:solidFill>
                <a:latin typeface="Consolas"/>
              </a:rPr>
              <a:t>LLM 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9976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26280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“Give me details about 400000000014 and their history of status”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736592"/>
            <a:ext cx="848560" cy="292608"/>
          </a:xfrm>
          <a:prstGeom prst="roundRect">
            <a:avLst>
              <a:gd name="adj" fmla="val 50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6600"/>
                </a:solidFill>
                <a:latin typeface="Consolas"/>
              </a:rPr>
              <a:t>LLM 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379976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“What’s the issue with 800000000019?”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4736592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13 / 14</a:t>
            </a:r>
          </a:p>
        </p:txBody>
      </p:sp>
      <p:sp>
        <p:nvSpPr>
          <p:cNvPr id="24" name="Diamond 23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E1726"/>
                </a:solidFill>
                <a:latin typeface="Segoe UI Semibold"/>
              </a:rPr>
              <a:t>Thanks — let’s dig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564C66"/>
                </a:solidFill>
                <a:latin typeface="Segoe UI"/>
              </a:rPr>
              <a:t>Full technical detail, every bug fix, and the reasoning behind each design call lives in </a:t>
            </a:r>
            <a:r>
              <a:rPr sz="1500" b="1" i="0">
                <a:solidFill>
                  <a:srgbClr val="4D148C"/>
                </a:solidFill>
                <a:latin typeface="Consolas"/>
              </a:rPr>
              <a:t>AGENTIC_RAG_ARCHITECTURE.md</a:t>
            </a:r>
            <a:r>
              <a:rPr sz="1600" b="0" i="0">
                <a:solidFill>
                  <a:srgbClr val="564C66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14 / 14</a:t>
            </a:r>
          </a:p>
        </p:txBody>
      </p:sp>
      <p:sp>
        <p:nvSpPr>
          <p:cNvPr id="7" name="Diamond 6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